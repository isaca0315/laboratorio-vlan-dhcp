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0-3 min · Apertura.</a:t>
            </a:r>
          </a:p>
          <a:p/>
          <a:p>
            <a:r>
              <a:t>Esta es la teoría que sostiene el Lab 13. No es teoría suelta: cada</a:t>
            </a:r>
          </a:p>
          <a:p>
            <a:r>
              <a:t>bloque corresponde a algo que van a escribir en la Sesión A o B.</a:t>
            </a:r>
          </a:p>
          <a:p/>
          <a:p>
            <a:r>
              <a:t>El hilo es: dirección IP → máscara → subredes (VLSM) → dispositivos →</a:t>
            </a:r>
          </a:p>
          <a:p>
            <a:r>
              <a:t>DHCP → tabla de enrutamiento → estáticas → OSPF.</a:t>
            </a:r>
          </a:p>
          <a:p/>
          <a:p>
            <a:r>
              <a:t>Pregunta de arranque para enganchar: ¿por qué en el laboratorio unas</a:t>
            </a:r>
          </a:p>
          <a:p>
            <a:r>
              <a:t>redes usan /28 y otras /30? La respuesta está en el bloque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3-4 min · Mapa de la clase.</a:t>
            </a:r>
          </a:p>
          <a:p/>
          <a:p>
            <a:r>
              <a:t>Señala que el orden importa: no se puede entender DHCP sin la máscara,</a:t>
            </a:r>
          </a:p>
          <a:p>
            <a:r>
              <a:t>ni el enrutamiento sin el gateway.</a:t>
            </a:r>
          </a:p>
          <a:p>
            <a:r>
              <a:t>Deja claro que casi todo lo que vemos es teoría de la Sesión A; OSPF es</a:t>
            </a:r>
          </a:p>
          <a:p>
            <a:r>
              <a:t>lo único de la Sesión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4-5 min · Transición.</a:t>
            </a:r>
          </a:p>
          <a:p/>
          <a:p>
            <a:r>
              <a:t>Pregunta para el grupo antes de avanzar: si una dirección tiene 4 octetos,</a:t>
            </a:r>
          </a:p>
          <a:p>
            <a:r>
              <a:t>¿cuántos identifican la red y cuántos el equipo? Que el número salga de la</a:t>
            </a:r>
          </a:p>
          <a:p>
            <a:r>
              <a:t>máscara, no del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5-7 min.</a:t>
            </a:r>
          </a:p>
          <a:p/>
          <a:p>
            <a:r>
              <a:t>Insiste en que la IP sola no dice nada: hace falta la máscara.</a:t>
            </a:r>
          </a:p>
          <a:p>
            <a:r>
              <a:t>Mismo número, distinta máscara, distinta red.</a:t>
            </a:r>
          </a:p>
          <a:p/>
          <a:p>
            <a:r>
              <a:t>Las clases (A/B/C) aparecen en los libros por historia. Si alguien pregunta</a:t>
            </a:r>
          </a:p>
          <a:p>
            <a:r>
              <a:t>por qué 192 es clase C: porque el diseño histórico reservaba el primer octeto</a:t>
            </a:r>
          </a:p>
          <a:p>
            <a:r>
              <a:t>para eso. Ya es irrelevante para el cálculo.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7-9 min.</a:t>
            </a:r>
          </a:p>
          <a:p/>
          <a:p>
            <a:r>
              <a:t>Regla: el prefijo es el número de unos. Contar los ceros del final da el</a:t>
            </a:r>
          </a:p>
          <a:p>
            <a:r>
              <a:t>tamaño del bloque (2^c).</a:t>
            </a:r>
          </a:p>
          <a:p/>
          <a:p>
            <a:r>
              <a:t>Errón típico: escribir /28 en 'ip address'. Cisco espera decimal y da error.</a:t>
            </a:r>
          </a:p>
          <a:p>
            <a:r>
              <a:t>El prefijo solo se usa con wildcard en OSPF/RIP.</a:t>
            </a:r>
          </a:p>
          <a:p/>
          <a:p>
            <a:r>
              <a:t>/31 es caso especial (RFC 3021, sin broadcast). En Packet Tracer no se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9-12 min · el corazón del cálculo.</a:t>
            </a:r>
          </a:p>
          <a:p/>
          <a:p>
            <a:r>
              <a:t>Si algo no queda claro, volver aquí.</a:t>
            </a:r>
          </a:p>
          <a:p/>
          <a:p>
            <a:r>
              <a:t>El error del 2^h ≥ equipos (sin +2) es el más común de todos: da /29 para</a:t>
            </a:r>
          </a:p>
          <a:p>
            <a:r>
              <a:t>10 equipos y luego un PC se queda sin dirección.</a:t>
            </a:r>
          </a:p>
          <a:p/>
          <a:p>
            <a:r>
              <a:t>En la tabla: /29 es insuficiente y /27 wasteful. /28 es el único que cumple</a:t>
            </a:r>
          </a:p>
          <a:p>
            <a:r>
              <a:t>exactamente. Esa es la definición de 'más eficiente'.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12-13 min · Transición.</a:t>
            </a:r>
          </a:p>
          <a:p/>
          <a:p>
            <a:r>
              <a:t>Aquí se responde la pregunta del arranque. Anota en la pizarra la</a:t>
            </a:r>
          </a:p>
          <a:p>
            <a:r>
              <a:t>pregunta tal como la hizo el estudiante.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13-16 min.</a:t>
            </a:r>
          </a:p>
          <a:p/>
          <a:p>
            <a:r>
              <a:t>El paso 4 es el que más cuesta: una /28 debe empezar en un múltiplo de 16,</a:t>
            </a:r>
          </a:p>
          <a:p>
            <a:r>
              <a:t>una /30 en un múltiplo de 4.</a:t>
            </a:r>
          </a:p>
          <a:p/>
          <a:p>
            <a:r>
              <a:t>Buen momento para mostrar que el error se detecta en papel: si al alinear</a:t>
            </a:r>
          </a:p>
          <a:p>
            <a:r>
              <a:t>no cuadra, el diseño está mal antes de tocar un cable.</a:t>
            </a:r>
          </a:p>
          <a:p/>
          <a:p>
            <a:r>
              <a:t>La tabla FLSM es un buen golpe visual: 384 &gt; 256 es imposible de un vistazo.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16-19 min · la pregunta del estudiante.</a:t>
            </a:r>
          </a:p>
          <a:p/>
          <a:p>
            <a:r>
              <a:t>Esta es la diapositiva que responde «¿por qué unas /30 y otras /28?».</a:t>
            </a:r>
          </a:p>
          <a:p/>
          <a:p>
            <a:r>
              <a:t>El argumento central: el criterio NO es si el otro extremo es switch o</a:t>
            </a:r>
          </a:p>
          <a:p>
            <a:r>
              <a:t>router. R1 tiene las dos máscaras en el mismo equipo. Lo que decide es</a:t>
            </a:r>
          </a:p>
          <a:p>
            <a:r>
              <a:t>cuántos dispositivos necesitan dirección en ese segmento.</a:t>
            </a:r>
          </a:p>
          <a:p/>
          <a:p>
            <a:r>
              <a:t>Si preguntan por qué no /31 para los enlaces: /31 existe (RFC 3021) pero</a:t>
            </a:r>
          </a:p>
          <a:p>
            <a:r>
              <a:t>PT y el IOS clásico no la aceptan en Ethernet.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19-22 min.</a:t>
            </a:r>
          </a:p>
          <a:p/>
          <a:p>
            <a:r>
              <a:t>Recorre la tabla fila por fila y haz que el grupo diga si está alineada.</a:t>
            </a:r>
          </a:p>
          <a:p/>
          <a:p>
            <a:r>
              <a:t>El detalle del reparto interno suele sorprender: el requisito decía 10</a:t>
            </a:r>
          </a:p>
          <a:p>
            <a:r>
              <a:t>equipos, pero el plan usa los 14 útiles. No sobran IPs en las LAN.</a:t>
            </a:r>
          </a:p>
          <a:p/>
          <a:p>
            <a:r>
              <a:t>Si piden ejercicio: ¿por qué .62/30 no vale? Porque 62 no es múltiplo de 4.</a:t>
            </a:r>
          </a:p>
          <a:p>
            <a:r>
              <a:t>Está en SUBNETEO.md como ejercicio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22-25 min.</a:t>
            </a:r>
          </a:p>
          <a:p/>
          <a:p>
            <a:r>
              <a:t>No leer los 6: elegir 2 y preguntar el síntoma. El de 'no excluir el</a:t>
            </a:r>
          </a:p>
          <a:p>
            <a:r>
              <a:t>gateway' es el que más daño hace y el más difícil de diagnosticar.</a:t>
            </a:r>
          </a:p>
          <a:p/>
          <a:p>
            <a:r>
              <a:t>El de 169.254.x.x lo van a ver en la Sesión A si algo sale mal: es la</a:t>
            </a:r>
          </a:p>
          <a:p>
            <a:r>
              <a:t>señal de que no hubo respuesta DHCP.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25-26 min · Transición.</a:t>
            </a:r>
          </a:p>
          <a:p/>
          <a:p>
            <a:r>
              <a:t>Hasta ahora solo números. Ahora: quién mueve esos paquetes.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26-28 min.</a:t>
            </a:r>
          </a:p>
          <a:p/>
          <a:p>
            <a:r>
              <a:t>Analogía útil: el switch es el mayordomo que reparte cartas dentro del</a:t>
            </a:r>
          </a:p>
          <a:p>
            <a:r>
              <a:t>edificio; el router es el cartero que sabe salir a otra calle.</a:t>
            </a:r>
          </a:p>
          <a:p/>
          <a:p>
            <a:r>
              <a:t>El flooding del switch es lo que hace que 'no se configure'.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28-30 min.</a:t>
            </a:r>
          </a:p>
          <a:p/>
          <a:p>
            <a:r>
              <a:t>Insiste en el punto de ip helper-address: es un límite de Packet Tracer,</a:t>
            </a:r>
          </a:p>
          <a:p>
            <a:r>
              <a:t>no una buena práctica de diseño. Si alguien pregunta '¿se podría con un</a:t>
            </a:r>
          </a:p>
          <a:p>
            <a:r>
              <a:t>router central en un router real?', la respuesta es sí.</a:t>
            </a:r>
          </a:p>
          <a:p/>
          <a:p>
            <a:r>
              <a:t>La malla completa se explica aquí; la demostración de redundancia con</a:t>
            </a:r>
          </a:p>
          <a:p>
            <a:r>
              <a:t>OSPF es en la Sesión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30-32 min.</a:t>
            </a:r>
          </a:p>
          <a:p/>
          <a:p>
            <a:r>
              <a:t>Muy probable que alguien reporte 'los cables salen rojos'. Adelantarse.</a:t>
            </a:r>
          </a:p>
          <a:p/>
          <a:p>
            <a:r>
              <a:t>El auto-MDIX del 2911 es la razón por la que el crossover es irrelevante</a:t>
            </a:r>
          </a:p>
          <a:p>
            <a:r>
              <a:t>aquí; en equipos viejos sin auto-MDIX sí importaba.</a:t>
            </a:r>
          </a:p>
          <a:p/>
          <a:p>
            <a:r>
              <a:t>clock rate: el lado DCE genera el reloj. Si no lo pones, la interfaz queda</a:t>
            </a:r>
          </a:p>
          <a:p>
            <a:r>
              <a:t>down/down aunque el cable esté perfecto.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32-34 min.</a:t>
            </a:r>
          </a:p>
          <a:p/>
          <a:p>
            <a:r>
              <a:t>Esta diapositiva responde la duda más común del lab: 'mi PC ya tiene</a:t>
            </a:r>
          </a:p>
          <a:p>
            <a:r>
              <a:t>IP, ¿por qué necesita otra cosa?'.</a:t>
            </a:r>
          </a:p>
          <a:p/>
          <a:p>
            <a:r>
              <a:t>Buen experimento mental: si el ping a la IP del gateway funciona pero a</a:t>
            </a:r>
          </a:p>
          <a:p>
            <a:r>
              <a:t>otra red no, el problema no es la IP del PC: es la ruta.</a:t>
            </a:r>
          </a:p>
          <a:p/>
          <a:p>
            <a:r>
              <a:t>El 'porque está en mi red' es la comparación de los primeros 4 octetos</a:t>
            </a:r>
          </a:p>
          <a:p>
            <a:r>
              <a:t>más la máscara; si difieren, el destino no es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34-35 min · Transición.</a:t>
            </a:r>
          </a:p>
          <a:p/>
          <a:p>
            <a:r>
              <a:t>Hasta ahora el PC tenía IP porque alguien la escribió. Ahora explica</a:t>
            </a:r>
          </a:p>
          <a:p>
            <a:r>
              <a:t>cómo la consigue solo. En el lab, los 9 PCs (3 por LAN) la reciben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35-37 min.</a:t>
            </a:r>
          </a:p>
          <a:p/>
          <a:p>
            <a:r>
              <a:t>APIPA es el punto clave: es lo que van a ver si algo falla. Decirles que</a:t>
            </a:r>
          </a:p>
          <a:p>
            <a:r>
              <a:t>169.254 significa 'nadie me dio dirección'.</a:t>
            </a:r>
          </a:p>
          <a:p/>
          <a:p>
            <a:r>
              <a:t>El término correcto: el router actúa como servidor DHCP de su LAN. En el</a:t>
            </a:r>
          </a:p>
          <a:p>
            <a:r>
              <a:t>lab cada router sirve un pool distinto (R1 → LAN-A, R2 → LAN-B, R3 → LAN-C).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37-39 min.</a:t>
            </a:r>
          </a:p>
          <a:p/>
          <a:p>
            <a:r>
              <a:t>El DORA es lo que hace 'mágico' al DHCP. Merece la pena escribir las</a:t>
            </a:r>
          </a:p>
          <a:p>
            <a:r>
              <a:t>iniciales en la pizarra antes de continuar.</a:t>
            </a:r>
          </a:p>
          <a:p/>
          <a:p>
            <a:r>
              <a:t>El Request no es redundante: es el que impide que dos servidores den la</a:t>
            </a:r>
          </a:p>
          <a:p>
            <a:r>
              <a:t>misma IP y el que sirve para renovar.</a:t>
            </a:r>
          </a:p>
          <a:p/>
          <a:p>
            <a:r>
              <a:t>Si piden ver el tráfico, esto es lo que hacen en la Sesión A con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39-42 min.</a:t>
            </a:r>
          </a:p>
          <a:p/>
          <a:p>
            <a:r>
              <a:t>El error clásico aquí es olvidar las exclusiones: el servidor entrega .17</a:t>
            </a:r>
          </a:p>
          <a:p>
            <a:r>
              <a:t>y el PC se queda con la IP del gateway.</a:t>
            </a:r>
          </a:p>
          <a:p/>
          <a:p>
            <a:r>
              <a:t>Otra confusión: la opción 3 (default-router) **no** es una IP de la LAN,</a:t>
            </a:r>
          </a:p>
          <a:p>
            <a:r>
              <a:t>es la dirección del propio router, y por eso se excluye del pool.</a:t>
            </a:r>
          </a:p>
          <a:p/>
          <a:p>
            <a:r>
              <a:t>Aquí se ve por qué las excluidas van de .17 a .21 y no solo .17: en el</a:t>
            </a:r>
          </a:p>
          <a:p>
            <a:r>
              <a:t>lab se reservan las 5 IPs para los PCs de configuración fija.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42-43 min · Transición.</a:t>
            </a:r>
          </a:p>
          <a:p/>
          <a:p>
            <a:r>
              <a:t>Último bloque y el más largo. Es donde se une todo: las subredes del</a:t>
            </a:r>
          </a:p>
          <a:p>
            <a:r>
              <a:t>bloque 2 se conectan entre sí con las rutas de este bloque.</a:t>
            </a:r>
          </a:p>
          <a:p/>
          <a:p>
            <a:r>
              <a:t>La pregunta que abre el bloque: si R1 no tiene ruta hacia 192.168.2.32,</a:t>
            </a:r>
          </a:p>
          <a:p>
            <a:r>
              <a:t>¿qué hace con un paquete que llega para esa red?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43-45 min.</a:t>
            </a:r>
          </a:p>
          <a:p/>
          <a:p>
            <a:r>
              <a:t>La tabla de enrutamiento es el 'show ip route' que van a leer mil veces.</a:t>
            </a:r>
          </a:p>
          <a:p>
            <a:r>
              <a:t>Enseñarlo ahora, antes de las rutas, evita que sea un bloque de letras.</a:t>
            </a:r>
          </a:p>
          <a:p/>
          <a:p>
            <a:r>
              <a:t>El punto de la distancia administrativa es importante: explica por qué en</a:t>
            </a:r>
          </a:p>
          <a:p>
            <a:r>
              <a:t>la Sesión B, si la estática sigue puesta, la ruta que se ve en el ping</a:t>
            </a:r>
          </a:p>
          <a:p>
            <a:r>
              <a:t>puede no ser la de OSPF.</a:t>
            </a:r>
          </a:p>
          <a:p/>
          <a:p>
            <a:r>
              <a:t>C vs L: la analogía útil es que C es la dirección de la calle y L es tu</a:t>
            </a:r>
          </a:p>
          <a:p>
            <a:r>
              <a:t>número de casa en esa calle.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45-48 min.</a:t>
            </a:r>
          </a:p>
          <a:p/>
          <a:p>
            <a:r>
              <a:t>El error número uno de la Sesión A: poner la IP de destino como siguiente</a:t>
            </a:r>
          </a:p>
          <a:p>
            <a:r>
              <a:t>salto, o poner una IP que no está conectada.</a:t>
            </a:r>
          </a:p>
          <a:p/>
          <a:p>
            <a:r>
              <a:t>Si el siguiente salto no está en una red conectada, el IOS acepta el</a:t>
            </a:r>
          </a:p>
          <a:p>
            <a:r>
              <a:t>comando pero la ruta no se puede usar (sale como 'no next hop').</a:t>
            </a:r>
          </a:p>
          <a:p/>
          <a:p>
            <a:r>
              <a:t>La analogía del siguiente salto: no es el destino final, es a quién le</a:t>
            </a:r>
          </a:p>
          <a:p>
            <a:r>
              <a:t>entrego el paquete para que llegue más cerca del destino.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48-50 min.</a:t>
            </a:r>
          </a:p>
          <a:p/>
          <a:p>
            <a:r>
              <a:t>Este es el error más caro del lab porque la tabla parece correcta.</a:t>
            </a:r>
          </a:p>
          <a:p/>
          <a:p>
            <a:r>
              <a:t>Diagnóstico: si el ping al gateway propio funciona pero al otro lado no,</a:t>
            </a:r>
          </a:p>
          <a:p>
            <a:r>
              <a:t>es un problema de rutas, no de la IP del PC.</a:t>
            </a:r>
          </a:p>
          <a:p/>
          <a:p>
            <a:r>
              <a:t>El ping con IP de origen es el comando clave: 'ping 192.168.2.33' desde</a:t>
            </a:r>
          </a:p>
          <a:p>
            <a:r>
              <a:t>R1, no desde el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50-53 min.</a:t>
            </a:r>
          </a:p>
          <a:p/>
          <a:p>
            <a:r>
              <a:t>OSPF es el bloque más denso. No entrar en detalle de tipos de router ni</a:t>
            </a:r>
          </a:p>
          <a:p>
            <a:r>
              <a:t>estados exentos: basta con link-state + área 0 + SPF.</a:t>
            </a:r>
          </a:p>
          <a:p/>
          <a:p>
            <a:r>
              <a:t>El router-id es fijo en el lab (1, .17, .33) porque si no lo fijamos, IOS</a:t>
            </a:r>
          </a:p>
          <a:p>
            <a:r>
              <a:t>lo elige solo y puede cambiar entre reinicios.</a:t>
            </a:r>
          </a:p>
          <a:p/>
          <a:p>
            <a:r>
              <a:t>Passive-interface: el error típico es ponerlo en las interfaces de los</a:t>
            </a:r>
          </a:p>
          <a:p>
            <a:r>
              <a:t>enlaces entre routers, que entonces no se vecindan.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53-55 min.</a:t>
            </a:r>
          </a:p>
          <a:p/>
          <a:p>
            <a:r>
              <a:t>No hace falta dominar RIP: la idea es comparar y ver por qué OSPF es el</a:t>
            </a:r>
          </a:p>
          <a:p>
            <a:r>
              <a:t>que se usa en el lab.</a:t>
            </a:r>
          </a:p>
          <a:p/>
          <a:p>
            <a:r>
              <a:t>El error de auto-summary solo aparece cuando hay VLSM. Como el lab usa</a:t>
            </a:r>
          </a:p>
          <a:p>
            <a:r>
              <a:t>VLSM justamente, es el caso donde hay que verlo.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55-57 min.</a:t>
            </a:r>
          </a:p>
          <a:p/>
          <a:p>
            <a:r>
              <a:t>Esta diapositiva es el puente directo con la Sesión B: los 4 pasos son</a:t>
            </a:r>
          </a:p>
          <a:p>
            <a:r>
              <a:t>literalmente lo que se hace al final del laboratorio.</a:t>
            </a:r>
          </a:p>
          <a:p/>
          <a:p>
            <a:r>
              <a:t>El paso 2 es el que convence: si el ping sigue funcionando sin la</a:t>
            </a:r>
          </a:p>
          <a:p>
            <a:r>
              <a:t>estática, es porque OSPF ya tenía esa ruta aprendida.</a:t>
            </a:r>
          </a:p>
          <a:p/>
          <a:p>
            <a:r>
              <a:t>Aviso: si el ping falla en el paso 2, es que OSPF no converge. Revisar</a:t>
            </a:r>
          </a:p>
          <a:p>
            <a:r>
              <a:t>network, router-id y que los 3 estén en área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57-58 min.</a:t>
            </a:r>
          </a:p>
          <a:p/>
          <a:p>
            <a:r>
              <a:t>Esta tabla es el índice del COMANDOS.md. Decirla de memoria es mejor que</a:t>
            </a:r>
          </a:p>
          <a:p>
            <a:r>
              <a:t>recitarla.</a:t>
            </a:r>
          </a:p>
          <a:p/>
          <a:p>
            <a:r>
              <a:t>El enfoque de capas es lo que más rinde en el laboratorio: evita cambiar</a:t>
            </a:r>
          </a:p>
          <a:p>
            <a:r>
              <a:t>cosas al azar. Interface down no se arregla con una 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58-59 min.</a:t>
            </a:r>
          </a:p>
          <a:p/>
          <a:p>
            <a:r>
              <a:t>Esta diapositiva es el puente con la práctica: lo que se ve en la Sesión A</a:t>
            </a:r>
          </a:p>
          <a:p>
            <a:r>
              <a:t>tiene que coincidir con esta tabla, o el comando se va a rechazar.</a:t>
            </a:r>
          </a:p>
          <a:p/>
          <a:p>
            <a:r>
              <a:t>El uso de ? es el mejor hábito: si un comando falla, no es que esté mal</a:t>
            </a:r>
          </a:p>
          <a:p>
            <a:r>
              <a:t>escrito, es que no existe en esa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59-60 min · Cierre.</a:t>
            </a:r>
          </a:p>
          <a:p/>
          <a:p>
            <a:r>
              <a:t>Usar como índice del laboratorio. Cada fila corresponde a un bloque de la</a:t>
            </a:r>
          </a:p>
          <a:p>
            <a:r>
              <a:t>teoría que ya se dio.</a:t>
            </a:r>
          </a:p>
          <a:p/>
          <a:p>
            <a:r>
              <a:t>El paso 7 (ping) y el paso 10 (borrar la estática) son los que más</a:t>
            </a:r>
          </a:p>
          <a:p>
            <a:r>
              <a:t>diagnostican. Si algo falla, volver a la tabla de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· Preguntas.</a:t>
            </a:r>
          </a:p>
          <a:p/>
          <a:p>
            <a:r>
              <a:t>Estas 5 preguntas cubren los 5 bloques. Si responden las 5, tienen la</a:t>
            </a:r>
          </a:p>
          <a:p>
            <a:r>
              <a:t>teoría suficiente para el laboratorio.</a:t>
            </a:r>
          </a:p>
          <a:p/>
          <a:p>
            <a:r>
              <a:t>La 3 y la 4 son las que más se confunden en la práctica: distinguen</a:t>
            </a:r>
          </a:p>
          <a:p>
            <a:r>
              <a:t>un problema de capa 2 de uno de capa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7C1E"/>
                </a:solidFill>
                <a:latin typeface="Calibri"/>
              </a:rPr>
              <a:t>UNIVERSIDAD TECNOLÓGICA DE PANAMÁ · FACULTAD DE INGENIERÍA DE SISTEMAS COMPUTACIONALES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Teoría del Laboratorio N.º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9D6EC"/>
                </a:solidFill>
                <a:latin typeface="Calibri"/>
              </a:rPr>
              <a:t>VLSM, DHCP y enrutamiento en Packet Tracer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C9D6EC"/>
                </a:solidFill>
                <a:latin typeface="Calibri"/>
              </a:rPr>
              <a:t>IP, máscara y VLSM · por qué unas subredes son /28 y otras /30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C9D6EC"/>
                </a:solidFill>
                <a:latin typeface="Calibri"/>
              </a:rPr>
              <a:t>Switch, router, ARP y DHCP · el DORA paso a paso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C9D6EC"/>
                </a:solidFill>
                <a:latin typeface="Calibri"/>
              </a:rPr>
              <a:t>Tabla de enrutamiento · rutas estáticas · OSPF · redundancia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Teoría previa a las Sesiones A y B · 60 min de clase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Qué vamos a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Cinco bloques que van del número al cable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542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/>
                <a:gridCol w="3017520"/>
                <a:gridCol w="6675120"/>
                <a:gridCol w="10058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Dirección IP y máscara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¿Qué es un prefijo y por qué 2^h − 2?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VLSM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¿Por qué unas subredes son /28 y otras /30?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Switch, router y cable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¿Quién reenvía por MAC y quién por IP?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DHCP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¿Cómo consigue un PC su IP sin que nadie la escriba?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Enrutamiento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¿Cómo sabe el router por dónde enviar un paquete?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Verificación, límites de PT y repaso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434840"/>
            <a:ext cx="1133856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434840"/>
            <a:ext cx="73152" cy="169164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5079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idea que sostiene todo el laboratorio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818888"/>
            <a:ext cx="109545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Una red no es «un switch con todos juntos»: es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segmentar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con las direcciones justas,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servir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esas direcciones automáticamente, y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conectar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los segmentos con rutas.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Cada capa depende de la anterior: si la máscara está mal, DHCP entrega direcciones imposibles y el enrutamiento ni siquiera se intentará.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6858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Dirección IP y máscara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D6EC"/>
                </a:solidFill>
                <a:latin typeface="Calibri"/>
              </a:rPr>
              <a:t>El bloque de todo lo demás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Qué es una dirección IP y cómo se parte en red + host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Máscara de subred y prefijo CIDR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La fórmula 2^h − 2 y por qué se restan 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Las direcciones especiales de una subred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87C1E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Qué es una dirección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32 bits que identifican un equipo dentro de una 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349240" cy="205740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502920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C"/>
                </a:solidFill>
                <a:latin typeface="Consolas"/>
              </a:rPr>
              <a:t>192.168.2.1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C"/>
                </a:solidFill>
                <a:latin typeface="Consolas"/>
              </a:rPr>
              <a:t>‾‾‾‾  ‾‾‾‾   ‾‾      ‾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D6EC"/>
                </a:solidFill>
                <a:latin typeface="Consolas"/>
              </a:rPr>
              <a:t> red    red    subred  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5349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444444"/>
                </a:solidFill>
                <a:latin typeface="Calibri"/>
              </a:rPr>
              <a:t>Cada octeto va de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0 a 255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(8 bits). Los 32 bits se reparten entre la
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parte de red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(qué red es) y la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parte de host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(qué equipo 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480560"/>
            <a:ext cx="534924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480560"/>
            <a:ext cx="73152" cy="160020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53712"/>
            <a:ext cx="49834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reparto lo decide la máscara, no el 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864608"/>
            <a:ext cx="49651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 192.168.2.1 y máscara /24, los 3 primeros octetos son red.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 la misma IP y máscara /28, el 4.º octeto empieza a ser de red también.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«cuántos equipos caben» no es una propiedad de la IP: es una propiedad de la IP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más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su máscara.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28016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Anatomía de una subred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72200" y="1691640"/>
          <a:ext cx="5623559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1874519"/>
                <a:gridCol w="21488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 192.168.2.0/28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 qué sirve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Dirección de red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Identifica la subred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Primera útil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Suele ser el gateway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Última útil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Último equipo asignable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Broadcast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Habla a todos a la vez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Máscara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255.255.255.240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Separa red de host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72200" y="4480560"/>
            <a:ext cx="562356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480560"/>
            <a:ext cx="73152" cy="1600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55371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Las clases ya no se usan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864608"/>
            <a:ext cx="52395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La dirección «dice» su clase por el primer octeto (A, B, C).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Hoy nadie usa clases: el tamaño de la red lo dice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el prefijo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192.168.2.0 puede dividirse en 6 subredes de tamaños distintos sin que nada contradiga el «diseño original».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Máscara de subred y prefijo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La misma idea, dos formas de escribirla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La máscara es una cadena de bits: unos = red, ceros = host.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11338560" cy="146304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11018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E87C1E"/>
                </a:solidFill>
                <a:latin typeface="Consolas"/>
              </a:rPr>
              <a:t>/28 = 255.255.255.240 = 11111111.11111111.11111111.1111 0000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8A8A8A"/>
                </a:solidFill>
                <a:latin typeface="Consolas"/>
              </a:rPr>
              <a:t>      24 bits de red (fijos)                       4 bits de host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78C8C"/>
                </a:solidFill>
                <a:latin typeface="Consolas"/>
              </a:rPr>
              <a:t>/30 = 255.255.255.252 = 11111111.11111111.11111111.1111 11 00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8A8A8A"/>
                </a:solidFill>
                <a:latin typeface="Consolas"/>
              </a:rPr>
              <a:t>      24 bits de red (fijos)                          2 bits de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46120"/>
            <a:ext cx="2106777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46120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/28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prefijo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19425" y="3246120"/>
            <a:ext cx="2106777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19425" y="3246120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0865" y="3374136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0865" y="377647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prefijo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7371" y="3246120"/>
            <a:ext cx="2106777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7371" y="3246120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8811" y="3374136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8811" y="377647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bits de 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5316" y="3246120"/>
            <a:ext cx="2106777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5316" y="3246120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6756" y="3374136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6756" y="377647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hosts útiles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3262" y="3246120"/>
            <a:ext cx="2106777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3262" y="3246120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4702" y="3374136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4702" y="377647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direcciones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11480" y="4315968"/>
          <a:ext cx="1133856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2926080"/>
                <a:gridCol w="2011680"/>
                <a:gridCol w="274320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Prefijo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Máscara en decimal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Bits de host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Hosts útiles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Tamaño del bloque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/27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255.255.255.224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/28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255.255.255.240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/29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255.255.255.248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255.255.255.252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/31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255.255.255.254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 (punto a punto)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11480" y="6172200"/>
            <a:ext cx="11338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44444"/>
                </a:solidFill>
                <a:latin typeface="Calibri"/>
              </a:rPr>
              <a:t>Nunca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escribas /28 en un comando de Cisco: la máscara va en decimal.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fórmula 2^h − 2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Por qué un /28 no da 16 equipos sino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628900" cy="105156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89888"/>
            <a:ext cx="24825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 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691640"/>
            <a:ext cx="24825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cuántos bits
dedico a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0380" y="16504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4700" y="1325880"/>
            <a:ext cx="2628900" cy="105156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7852" y="1389888"/>
            <a:ext cx="24825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2^h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7852" y="1691640"/>
            <a:ext cx="24825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direcciones
totales del bloque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504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628900" cy="105156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389888"/>
            <a:ext cx="24825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− 2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91640"/>
            <a:ext cx="24825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red y broadcast
no se asignan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820" y="16504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21139" y="1325880"/>
            <a:ext cx="2628900" cy="105156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291" y="1389888"/>
            <a:ext cx="24825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2^h − 2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4291" y="1691640"/>
            <a:ext cx="24825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C9D6EC"/>
                </a:solidFill>
                <a:latin typeface="Calibri"/>
              </a:rPr>
              <a:t>hosts que
puedo usar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6974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Los dos que se pierden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108960"/>
            <a:ext cx="5577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La </a:t>
            </a:r>
            <a:r>
              <a:rPr sz="1300" b="1" i="0">
                <a:solidFill>
                  <a:srgbClr val="444444"/>
                </a:solidFill>
                <a:latin typeface="Calibri"/>
              </a:rPr>
              <a:t>dirección de red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 identifica la subred. Si un equipo la toma, el tráfico hacia el resto de la LAN se rompe.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La </a:t>
            </a:r>
            <a:r>
              <a:rPr sz="1300" b="1" i="0">
                <a:solidFill>
                  <a:srgbClr val="444444"/>
                </a:solidFill>
                <a:latin typeface="Calibri"/>
              </a:rPr>
              <a:t>dirección de broadcast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 habla a todos los equipos a la vez. Es para difusión, no para un equipo concreto.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434840"/>
            <a:ext cx="557784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434840"/>
            <a:ext cx="73152" cy="169164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50799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Cuidado con el truco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4818888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Para elegir bits de host hay que contar los dos direcciones extra: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2^h ≥ equipos + 2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, no solo ≥ equipos.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 10 equipos: 2^4 = 16 ≥ 12 ✓, y 2^3 = 8 &lt; 12 ✗.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h = 4 y el prefijo es /28.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697480"/>
            <a:ext cx="5623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Los tres pasos para elegir prefijo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172200" y="3108960"/>
          <a:ext cx="562356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508760"/>
                <a:gridCol w="548640"/>
                <a:gridCol w="960120"/>
                <a:gridCol w="16916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Equipos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Prueba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Prefijo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¿Sirve?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2^3 − 2 = 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/29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No, insuficiente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2^4 − 2 = 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/28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2^5 − 2 = 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/27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Sí, pero desperdicia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2^1 − 2 = 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/31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No, insuficiente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2^2 − 2 = 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/30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6172200" y="5376672"/>
            <a:ext cx="562356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76672"/>
            <a:ext cx="73152" cy="105156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544982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Regla del laboratorio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760720"/>
            <a:ext cx="5239512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Se elige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el prefijo más corto que cumple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 Un /27 también serviría para 10 equipos, pero tiraría 16 direcciones por 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6858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VLSM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D6EC"/>
                </a:solidFill>
                <a:latin typeface="Calibri"/>
              </a:rPr>
              <a:t>Por qué unas subredes son /28 y otras 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Qué es VLSM y por qué no usar una sola máscara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El método en 6 pasos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Los dos requisitos del laboratorio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Las 6 subredes y los errores típicos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87C1E"/>
                </a:solidFill>
                <a:latin typeface="Calibri"/>
              </a:rPr>
              <a:t>12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VLSM: una máscara por 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Por qué 6 redes de 192.168.2.0/24 no pueden compartir máscara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44444"/>
                </a:solidFill>
                <a:latin typeface="Calibri"/>
              </a:rPr>
              <a:t>Si dividiéramos el /24 con una sola máscara, cada subred tendría el mismo tamaño. Eso es </a:t>
            </a:r>
            <a:r>
              <a:rPr sz="1450" b="1" i="0">
                <a:solidFill>
                  <a:srgbClr val="444444"/>
                </a:solidFill>
                <a:latin typeface="Calibri"/>
              </a:rPr>
              <a:t>FLSM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 y desperdicia.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83080"/>
          <a:ext cx="1133856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17520"/>
                <a:gridCol w="2743200"/>
                <a:gridCol w="2834640"/>
                <a:gridCol w="2743200"/>
              </a:tblGrid>
              <a:tr h="347472">
                <a:tc>
                  <a:txBody>
                    <a:bodyPr wrap="square"/>
                    <a:lstStyle/>
                    <a:p/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FLSM · todo /26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VLSM · lo que hacemos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Diferencia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LAN-A, LAN-B, LAN-C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× 64 = 192 dir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× 16 = 48 dir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144 dir menos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Enlaces entre routers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× 64 = 192 dir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× 4 = 12 dir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180 dir menos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Total usado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384 de 256 ⚠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60 de 256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imposible vs posible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364992"/>
            <a:ext cx="557784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364992"/>
            <a:ext cx="7315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438144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Con FLSM no cabe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749040"/>
            <a:ext cx="51937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6 subredes de 64 direcciones = 384, pero /24 solo tiene 256.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cálculo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falla antes de configurar nada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VLSM es lo que hace posible el diseño.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364992"/>
            <a:ext cx="562356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364992"/>
            <a:ext cx="73152" cy="137160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43814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Con VLSM sobra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749040"/>
            <a:ext cx="5239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60 direcciones usadas de 256 →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76 % libre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Ese margen es el que permite crecer: añadir una subred /28 en .60 sin rehacer el direccionamiento.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método en 6 pasos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57800"/>
            <a:ext cx="1661160" cy="96012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1 Ordena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de mayor
a menor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2640" y="55366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6960" y="5257800"/>
            <a:ext cx="1661160" cy="96012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0112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2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0112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2^h ≥ nece-
sidad + 2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8120" y="55366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2440" y="5257800"/>
            <a:ext cx="1661160" cy="96012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55592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3 Prefijo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55592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32 − h y su
máscara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5366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257800"/>
            <a:ext cx="1661160" cy="96012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 Alinea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múltiplo del
tamaño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9080" y="55366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3399" y="5257800"/>
            <a:ext cx="1661160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6551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5 Asigna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551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red, útiles,
broadcast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4560" y="553669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88880" y="5257800"/>
            <a:ext cx="166116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2032" y="5321808"/>
            <a:ext cx="1514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6 Comprueba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2032" y="5623560"/>
            <a:ext cx="15148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C9D6EC"/>
                </a:solidFill>
                <a:latin typeface="Calibri"/>
              </a:rPr>
              <a:t>sin solapes
y ≤ 256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Los dos requisitos del laboratorio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La respuesta a «¿por qué /28 y /30?»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07008"/>
          <a:ext cx="11338560" cy="1170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3931920"/>
                <a:gridCol w="2377440"/>
                <a:gridCol w="1097280"/>
                <a:gridCol w="10058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Tipo de segmento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Equipos que necesitan IP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Cálculo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Prefijo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Útiles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LAN-A, LAN-B, LAN-C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10 de diseño (hoy: 1 GW + 3 PCs)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2^4 − 2 = 14 ≥ 10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/28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Enlaces entre routers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  (la interfaz de cada extremo)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2^2 − 2 = 2 ≥ 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248716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Son </a:t>
            </a:r>
            <a:r>
              <a:rPr sz="1400" b="1" i="0">
                <a:solidFill>
                  <a:srgbClr val="444444"/>
                </a:solidFill>
                <a:latin typeface="Calibri"/>
              </a:rPr>
              <a:t>dos cálculos porque hay dos requisitos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. No es «subnetear las LAN» y «subnetear los routers» por separado.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80360"/>
            <a:ext cx="11338560" cy="1554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73152" cy="155448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535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prueba: un mismo router tiene las dos máscaras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64408"/>
            <a:ext cx="109545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onsolas"/>
              </a:rPr>
              <a:t>R1 Gi0/0 → 192.168.2.1/28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  conecta con el switch: 10 equipos en la LAN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onsolas"/>
              </a:rPr>
              <a:t>R1 Gi0/1 → 192.168.2.49/30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 conecta con R2: solo 2 equipos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onsolas"/>
              </a:rPr>
              <a:t>R1 Gi0/2 → 192.168.2.58/30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 conecta con R3: solo 2 equipos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4526280"/>
          <a:ext cx="11338560" cy="1170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5852160"/>
                <a:gridCol w="3108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 el destino...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qué funciona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 qué no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Un enlace es /28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Funciona, pero sobran 12 IPs. Con 3 enlaces son 36 dir. tiradas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Desperdicio innecesario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Una LAN es 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 IPs útiles, el gateway toma 1 y solo queda 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No alcanza para 3 PCs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11480" y="5715000"/>
            <a:ext cx="1133856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5715000"/>
            <a:ext cx="73152" cy="7315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7881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asimetría que resume el método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099048"/>
            <a:ext cx="10954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Sobre-asignar funciona pero desperdicia. Sub-asignar rompe el laboratorio. Por eso siempre se calcula el mínimo que cumple.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Las 6 subredes del laboratorio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El resultado final del cálculo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587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2514600"/>
                <a:gridCol w="822960"/>
                <a:gridCol w="1828800"/>
                <a:gridCol w="822960"/>
                <a:gridCol w="1920240"/>
                <a:gridCol w="868680"/>
                <a:gridCol w="20574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Subred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¿Alineada?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Hosts útiles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Bcast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192.168.2.0/28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0 = 0×16 ✓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 – .14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LAN-A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192.168.2.16/28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16 = 1×16 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.17 – .30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.31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LAN-B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192.168.2.32/28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32 = 2×16 ✓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.32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.33 – .46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.47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LAN-C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192.168.2.48/30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48 = 12×4 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.48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.49 – .50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R1 – R2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192.168.2.52/30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52 = 13×4 ✓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.53 – .54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R2 – R3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192.168.2.56/30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56 = 14×4 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.57 – .58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.59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R3 – R1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.60 – .255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196 libres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977639"/>
            <a:ext cx="2106777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977639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105655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3×16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0799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9425" y="3977639"/>
            <a:ext cx="2106777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9425" y="3977639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0865" y="4105655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3×4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0865" y="450799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enlaces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7371" y="3977639"/>
            <a:ext cx="2106777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7371" y="3977639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8811" y="4105655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8811" y="450799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usadas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5316" y="3977639"/>
            <a:ext cx="2106777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5316" y="3977639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6756" y="4105655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196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6756" y="450799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libres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3262" y="3977639"/>
            <a:ext cx="2106777" cy="9144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3262" y="3977639"/>
            <a:ext cx="2106777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4702" y="4105655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77%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4702" y="4507992"/>
            <a:ext cx="192389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44444"/>
                </a:solidFill>
                <a:latin typeface="Calibri"/>
              </a:rPr>
              <a:t>libre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83480"/>
            <a:ext cx="5577840" cy="12801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983480"/>
            <a:ext cx="73152" cy="128016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05663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Cómo se verifica sin calculadora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5367528"/>
            <a:ext cx="519379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Suma bloques: 3×16 + 3×4 =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60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La siguiente posición libre es .60: es múltiplo de 16 y de 4 → cabe otra subred. Si no fuera múltiplo, el diseño estaría mal.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983480"/>
            <a:ext cx="5623560" cy="12801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983480"/>
            <a:ext cx="73152" cy="128016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505663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Reparto interno de cada 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5367528"/>
            <a:ext cx="523951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LAN-A: `.1` gateway, `.2`–`.5` reservadas, `.6`–`.14` para DHCP.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Hoy solo 3 PCs usan ese rango; las otras 6 direcciones quedan libres.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crecimiento real está en `.60` en adelante: eso da el 77 % libre.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Los 6 errores típicos de subneteo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Reconocerlos por el síntoma es más rápido que recalcular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3657600"/>
                <a:gridCol w="43891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Síntoma que se ve en el lab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Usar /29 para una LAN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6 útiles &lt; 10 equipos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El 4.º PC queda en 169.254.x.x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Empezar la 2.ª LAN en .15/28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.15 es el broadcast de LAN-A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Las subredes se solapan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Poner un /30 en .46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46 no es múltiplo de 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IOS lo rechaza: no alineada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Usar .50/30 como red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.50 es dirección de host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Red con bits incoherentes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No excluir el gateway del pool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Un PC puede tomar .1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 LAN se parte en dos y nadie pingea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Escribir /28 en ip address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Cisco espera decimal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Error de sintaxis inmediato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572000"/>
            <a:ext cx="5577840" cy="1463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572000"/>
            <a:ext cx="73152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64515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más caro: no excluir el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956048"/>
            <a:ext cx="51937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un PC obtiene .1, se convierte en un host más.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router tiene dos cosas en la misma IP.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Resultado: mitad de la LAN sin poder hablar con la otra mitad.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Se previene con `ip dhcp excluded-address`.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572000"/>
            <a:ext cx="5623560" cy="1463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572000"/>
            <a:ext cx="73152" cy="146304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464515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más sutil: .15 como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956048"/>
            <a:ext cx="5239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`.15` es el broadcast de `192.168.2.0/28`, no un host.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La siguiente subred empieza en `.16`, siempre en el siguiente múltiplo del bloque. Never divide el espacio sin mirar la alineación.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6858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Switch, router y cable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D6EC"/>
                </a:solidFill>
                <a:latin typeface="Calibri"/>
              </a:rPr>
              <a:t>Quién reenvía por MAC y quién por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El switch trabaja en la capa 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El router trabaja en la capa 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Por qué una malla de 3 routers y no un switch grande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Ethernet y cables de cobre · ARP y el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87C1E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Switch y router: no son intercambiables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Capa 2 contra capa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4206240"/>
                <a:gridCol w="4480560"/>
              </a:tblGrid>
              <a:tr h="347472">
                <a:tc>
                  <a:txBody>
                    <a:bodyPr wrap="square"/>
                    <a:lstStyle/>
                    <a:p/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Switch 2960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Router 2911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Capa OSI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2 · Enlace de datos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· Red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Decide mirando...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 </a:t>
                      </a:r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dirección MAC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 </a:t>
                      </a:r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dirección IP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Su tabla es...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tabla MAC (aprende por floods)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tabla de enrutamiento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Conecta...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equipos de </a:t>
                      </a:r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la misma</a:t>
                      </a:r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 red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redes </a:t>
                      </a:r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distintas</a:t>
                      </a:r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 entre sí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Aísla el broadcast?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No, lo reenvía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Sí, cada interfaz es un dominio aparte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 este lab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SW1, SW2, SW3 (9 PCs)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R1, R2, R3 (unen las 3 LAN)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434840"/>
            <a:ext cx="1133856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434840"/>
            <a:ext cx="73152" cy="96012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5079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frase que resume la diferencia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818888"/>
            <a:ext cx="109545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switch mueve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tramas dentro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de una red. El router mueve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paquetes entre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redes.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Por eso los 9 PCs de una LAN se hablan entre sí sin que ningún router participe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468112"/>
            <a:ext cx="1133856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5468112"/>
            <a:ext cx="73152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54126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Y el switch aprende 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852160"/>
            <a:ext cx="109545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No se configura: empieza vacío, inunda y memoriza qué MAC está en cada puerto.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Router en cambio sí necesita que le digan por dónde salir: eso es la tabla de enrutamiento.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Por qué una malla de 3 routers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Cada uno con enlaces a los otros 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44444"/>
                </a:solidFill>
                <a:latin typeface="Calibri"/>
              </a:rPr>
              <a:t>Con 3 routers y enlaces en malla completa hay </a:t>
            </a:r>
            <a:r>
              <a:rPr sz="1450" b="1" i="0">
                <a:solidFill>
                  <a:srgbClr val="444444"/>
                </a:solidFill>
                <a:latin typeface="Calibri"/>
              </a:rPr>
              <a:t>dos caminos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 entre cualquier par de sedes.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37360"/>
          <a:ext cx="11338560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743200"/>
                <a:gridCol w="2377440"/>
                <a:gridCol w="2377440"/>
                <a:gridCol w="22860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Enlace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Subred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Extremo 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Extremo B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Cable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Enlace 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192.168.2.48/30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R1 Gi0/1 = .49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R2 Gi0/1 = .50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Cobre recto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Enlace 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192.168.2.52/30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R2 Gi0/2 = .53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R3 Gi0/1 = .54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Cobre recto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Enlace 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192.168.2.56/30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R3 Gi0/2 = .57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R1 Gi0/2 = .58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Cobre recto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429000"/>
            <a:ext cx="5577840" cy="1508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429000"/>
            <a:ext cx="73152" cy="150876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50215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Qué gana la malla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13048"/>
            <a:ext cx="51937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Redundancia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: si cae un enlace, el tráfico reruta por el otro.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Con dos rutas, el tráfico entre sedes tiene dos caminos posibles.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En la Sesión B esto se demuestra apagando un cable.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429000"/>
            <a:ext cx="5623560" cy="1508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73152" cy="150876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50215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no un solo router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813048"/>
            <a:ext cx="52395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Un router solo reparte IPs de la subred de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su propia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interfaz.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Para servir las otras LANs necesita `ip helper-address`.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Packet Tracer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no implementa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ese comando, así que el diseño del lab usa 3 routers. Es una limitación de la herramienta, no del diseño.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120640"/>
            <a:ext cx="1133856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120640"/>
            <a:ext cx="73152" cy="123444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1937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Y las tres LAN van a un switch, no directamente al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504688"/>
            <a:ext cx="10954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Cada LAN tiene su switch: SW1 con R1, SW2 con R2, SW3 con R3.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router solo necesita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un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cable por LAN: el de su interfaz Gi0/0.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Los 3 PCs se reparten los puertos Fa0/2, Fa0/3 y Fa0/4 de su switch.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Ethernet y cables de cobre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Por qué 15 cables recto y ninguno serial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23360"/>
                <a:gridCol w="4572000"/>
                <a:gridCol w="27432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se conecta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Tipo de cable en PT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Cuántos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Router ↔ switch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Copper Straight-Through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PC ↔ switch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Copper Straight-Through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Router ↔ router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Copper Straight-Through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Router ↔ router (variante)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Serial DCE + `clock rate`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3 · opcional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364992"/>
            <a:ext cx="557784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364992"/>
            <a:ext cx="73152" cy="160020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38144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recto y no crossover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749040"/>
            <a:ext cx="51937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Crossover se usaba entre dos dispositivos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iguales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Como aquí todos los pares son distintos (router-switch, PC-switch), basta el recto.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Además el 2911 tiene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auto-MDIX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: negocia solo y acepta ambos.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PT puedes elegir crossover y también funcionaría.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364992"/>
            <a:ext cx="562356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364992"/>
            <a:ext cx="73152" cy="1600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43814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no Serial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749040"/>
            <a:ext cx="52395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cable serial es de WAN: entre routers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no adyacentes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lo usas, el lado DCE necesita `clock rate 64000` o el enlace no levanta: sin reloj no hay señal.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Requiere instalar el módulo HWIC-2T con el router apagado.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este lab el gigabit basta y es más simple.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047488"/>
            <a:ext cx="1133856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047488"/>
            <a:ext cx="7315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120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Lo primero que se ve mal: las luces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431536"/>
            <a:ext cx="10954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En Packet Tracer las Gi del 2911 nacen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apagadas administrativamente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Con el cableado correcto pero sin configurar, los cables se ven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rojos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Eso no significa cable mal conectado: significa que falta `no shutdown`.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Pasa a verde solo después del `no shutdown` de la Sesión 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ARP: cómo el PC encuentra al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El paso que casi nadie explica y todos lo ejecutan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444444"/>
                </a:solidFill>
                <a:latin typeface="Calibri"/>
              </a:rPr>
              <a:t>Un PC decide </a:t>
            </a:r>
            <a:r>
              <a:rPr sz="1450" b="1" i="0">
                <a:solidFill>
                  <a:srgbClr val="444444"/>
                </a:solidFill>
                <a:latin typeface="Calibri"/>
              </a:rPr>
              <a:t>por IP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, pero en un cable Ethernet cada trama sale con una </a:t>
            </a:r>
            <a:r>
              <a:rPr sz="1450" b="1" i="0">
                <a:solidFill>
                  <a:srgbClr val="444444"/>
                </a:solidFill>
                <a:latin typeface="Calibri"/>
              </a:rPr>
              <a:t>MAC</a:t>
            </a:r>
            <a:r>
              <a:rPr sz="1450" b="0" i="0">
                <a:solidFill>
                  <a:srgbClr val="444444"/>
                </a:solidFill>
                <a:latin typeface="Calibri"/>
              </a:rPr>
              <a:t>. ARP traduce.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2048256" cy="96012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55648"/>
            <a:ext cx="1901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PC quiere
ping 8.8.8.8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57400"/>
            <a:ext cx="1901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compara
destino vs su /28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1970531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4056" y="1691640"/>
            <a:ext cx="2048256" cy="96012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755648"/>
            <a:ext cx="1901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¿Está en
mi red?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057400"/>
            <a:ext cx="1901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no: .1–.14 es
mi segmento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1970531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6632" y="1691640"/>
            <a:ext cx="2048256" cy="96012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755648"/>
            <a:ext cx="1901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ARP:
"¿quién es .1?"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057400"/>
            <a:ext cx="1901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broadcast a
toda la 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970531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79208" y="1691640"/>
            <a:ext cx="2048256" cy="96012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755648"/>
            <a:ext cx="1901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R1 responde
con su 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057400"/>
            <a:ext cx="1901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ARP reply
unicast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1970531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01784" y="1691640"/>
            <a:ext cx="2048256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755648"/>
            <a:ext cx="1901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PC encapsula
y envía a 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057400"/>
            <a:ext cx="1901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C9D6EC"/>
                </a:solidFill>
                <a:latin typeface="Calibri"/>
              </a:rPr>
              <a:t>allá enruta
hacia Internet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926080"/>
            <a:ext cx="557784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926080"/>
            <a:ext cx="73152" cy="16002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299923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esto exige un gateway en la misma 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3310128"/>
            <a:ext cx="519379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PC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no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puede armar la trama si no conoce una MAC.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Solo hay una MAC que puede usar: la del gateway.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el gateway estuviera en otra red, el PC no podría salir nunca.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la opción 3 del DHCP (default-router) es obligatoria.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926080"/>
            <a:ext cx="5623560" cy="16002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926080"/>
            <a:ext cx="73152" cy="160020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99923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ARP es solo 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310128"/>
            <a:ext cx="52395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ARP nunca cruza un router. Se resuelve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por segmento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Cada router hace su propio ARP hacia su siguiente salto.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en cada /30 solo se ve tráfico entre los 2 extremos: nadie más existe en ese cable.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800600"/>
            <a:ext cx="11338560" cy="141732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910328"/>
            <a:ext cx="11018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87C1E"/>
                </a:solidFill>
                <a:latin typeface="Consolas"/>
              </a:rPr>
              <a:t>PC-A&gt; arp -a          R1&gt; show ip arp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A8A8A"/>
                </a:solidFill>
                <a:latin typeface="Consolas"/>
              </a:rPr>
              <a:t>  192.168.2.1   0000.0c29.5b11.22   ARPA   LAN-A R1-Gig0/0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A8A8A"/>
                </a:solidFill>
                <a:latin typeface="Consolas"/>
              </a:rPr>
              <a:t>  192.168.2.5   0050.ea3d.9f01   ARPA   LAN-A PC-A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6858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DHCP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D6EC"/>
                </a:solidFill>
                <a:latin typeface="Calibri"/>
              </a:rPr>
              <a:t>Cómo consigue un PC su IP sin que nadie la escriba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Por qué DHCP y no IP fija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El DORA paso a paso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El pool: red, opciones y exclusiones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Qué comando se ejecuta en cada 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87C1E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Por qué DHCP y no IP fija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Tres problemas que la IP manual no resuelve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4297680"/>
                <a:gridCol w="4114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Problema con IP fija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pasa en la práctica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lo resuelve DHCP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Conflicto de direcciones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Un PC nuevo toma .5 y nada funciona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El servidor entrega direcciones libres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Cambio de subred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Hay que tocar 15 equipos a mano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Se reconfigura el servidor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Cambio de gateway o DNS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Hay que editar cada equipo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El PC renueva y se actualiza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Equipos fuera de servicio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 IP queda reservada y desperdiciada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El pool la reutiliza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611880"/>
            <a:ext cx="1133856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611880"/>
            <a:ext cx="73152" cy="123444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685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Y qué gana el 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995928"/>
            <a:ext cx="10954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solo lugar donde ver y cambiar la configuración de la red: `show ip dhcp binding`.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router es el servidor DHCP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de su propia LAN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(servidor por defecto).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Cada LAN tiene su propio pool porque cada una necesita entregar su gateway como opción 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937760"/>
            <a:ext cx="1133856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937760"/>
            <a:ext cx="73152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0109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coste: el equipo necesita un piso de arranque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321808"/>
            <a:ext cx="10954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Sin leases el PC arranca en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APIPA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: 169.254.x.x, que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no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enrutable.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Si ves 169.254 en un PC del lab, el DHCP no respondió. Es el primer síntoma a revisar.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La lista de IPs esperadas en LAN-B es .17–.30; si un PC queda fuera de ese rango, el DHCP no está repartiendo esa 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DORA, 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Discover, Offer, Request, Acknowledge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011680"/>
                <a:gridCol w="2377440"/>
                <a:gridCol w="1920240"/>
                <a:gridCol w="4114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Quién envía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quién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Mensaje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lleva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 · 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PC (cliente)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broadcast 255.255.255.255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Discover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"¿Hay algún servidor DHCP?" — su MAC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2 · 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servidor DHCP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 PC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 IP que le ofrece + máscara, gw, DNS, lease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3 · 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PC (cliente)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 servidor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"Quiero esa" — pide específicamente esa IP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4 · 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servidor DHCP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 PC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Acknowledge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Confirma y empieza el tiempo de concesión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474720"/>
            <a:ext cx="5577840" cy="1554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474720"/>
            <a:ext cx="73152" cy="155448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54787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Request parece redundante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858768"/>
            <a:ext cx="5193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hay varios servidores, el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servidor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gana por prioridad.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un cliente que ya tiene dirección, el Request pide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renovar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la misma, y el tiempo se reinicia.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renovar es más rápido que obtenerla por primera vez.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474720"/>
            <a:ext cx="562356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474720"/>
            <a:ext cx="73152" cy="1691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54787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Los puertos que lo hacen funcionar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858768"/>
            <a:ext cx="52395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Cliente UDP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68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, servidor UDP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67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Offer del servidor va a .68 porque en ese momento el cliente aún no tiene IP.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Discover va a 255.255.255.255: aún no hay IP, así que no puede usar un unicast.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257800"/>
            <a:ext cx="11338560" cy="1143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257800"/>
            <a:ext cx="73152" cy="11430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330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Dónde ver cada paso en Packet Tracer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641848"/>
            <a:ext cx="109545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Abrir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Simulation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(Alt+Shift+S), poner un filtro por protocolo `bootpc`/`DHCP` y ver las 4 ventanas.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paso 1 y el 3 salen del PC; el 2 y el 4, del router. El nombre de la pestaña de cada mensaje lleva el paso: DORA.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pool y sus exclusiones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Qué define el bloque `ip dhcp pool`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444444"/>
                </a:solidFill>
                <a:latin typeface="Calibri"/>
              </a:rPr>
              <a:t>Cada router define un pool para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su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LAN. El de LAN-B, en el router R2: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486400" cy="214884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51663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87C1E"/>
                </a:solidFill>
                <a:latin typeface="Consolas"/>
              </a:rPr>
              <a:t>R2(config)# ip dhcp pool LAN_B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R2(dhcp-config)# network 192.168.2.16 255.255.255.240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R2(dhcp-config)# default-router 192.168.2.17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R2(dhcp-config)# dns-server 8.8.8.8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R2(dhcp-config)# domain-name lab-utp.pa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R2(dhcp-config)# exit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32120" cy="214884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9928"/>
            <a:ext cx="521208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E87C1E"/>
                </a:solidFill>
                <a:latin typeface="Consolas"/>
              </a:rPr>
              <a:t>R2(config)# ip dhcp excluded-address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          192.168.2.17 192.168.2.21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R2(config)# interface gi0/0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R2(config-if)# ip address 192.168.2.17 255.255.255.240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R2(config-if)# no shutdown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onsolas"/>
              </a:rPr>
              <a:t>R2(config-if)# exit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3931920"/>
          <a:ext cx="11338560" cy="1719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5120640"/>
                <a:gridCol w="3108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Paquete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network ... máscara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Qué subred se reparte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default-router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 puerta de salida (opción 3)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DHCP Discover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dns-server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 quién pregunta por nombres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DHCP Discover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domain-name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El dominio que se registra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DHCP Discover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excluded-address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Qué direcciones NO se entregan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11480" y="5715000"/>
            <a:ext cx="11338560" cy="731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5715000"/>
            <a:ext cx="73152" cy="73152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7881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rango que se entrega en LAN-B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099048"/>
            <a:ext cx="109545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De `.22` a `.30`. Se excluye `.17` (gateway, opción 3) y `.18` a `.21` (reservadas). Por eso el `show ip dhcp binding` debe mostrar leases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.22 – .30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68580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6128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D6EC"/>
                </a:solidFill>
                <a:latin typeface="Calibri"/>
              </a:rPr>
              <a:t>Cómo sabe el router por dónde enviar un paquete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241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La tabla de enrutamiento y sus códigos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Rutas estáticas y siguiente salto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Por qué el ping necesita ruta de vuelta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OSPF, RIPv2 y la redundancia de la malla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E87C1E"/>
                </a:solidFill>
                <a:latin typeface="Calibri"/>
              </a:rPr>
              <a:t>14 min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tabla de enrutamiento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La lista que el router consulta en cada paquete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444444"/>
                </a:solidFill>
                <a:latin typeface="Calibri"/>
              </a:rPr>
              <a:t>Cada línea dice: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a qué red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llego,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por qué interfaz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salgo, </a:t>
            </a:r>
            <a:r>
              <a:rPr sz="1350" b="1" i="0">
                <a:solidFill>
                  <a:srgbClr val="444444"/>
                </a:solidFill>
                <a:latin typeface="Calibri"/>
              </a:rPr>
              <a:t>a qué dirección</a:t>
            </a:r>
            <a:r>
              <a:rPr sz="1350" b="0" i="0">
                <a:solidFill>
                  <a:srgbClr val="444444"/>
                </a:solidFill>
                <a:latin typeface="Calibri"/>
              </a:rPr>
              <a:t> entrego.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572768"/>
          <a:ext cx="1133856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743200"/>
                <a:gridCol w="4206240"/>
                <a:gridCol w="3474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Significa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Cómo llegó a la tabla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Ejemplo en el lab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Conectada (directly connected)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 crea sola al configurar `ip address`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192.168.2.0/28 en Gi0/0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 crea sola, es la IP del propio router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192.168.2.1/32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Estática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Alguien la escribió a mano con `ip route`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 192.168.2.32/28 via .49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OSPF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Aprendida de los vecinos por multicast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 192.168.2.32/28 via .58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RIP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Aprendida de los vecinos por broadcast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 192.168.2.32/28 via .58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913632"/>
            <a:ext cx="5577840" cy="1508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913632"/>
            <a:ext cx="73152" cy="150876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986784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Cómo decide el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297680"/>
            <a:ext cx="519379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1. Mira la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más específica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que coincide: /28 gana sobre /24.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2. Si hay empate, elige la de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menor distancia administrativa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3. Si sigue el empate, la de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menor costo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4. El resto se descarta: la red se descarta.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913632"/>
            <a:ext cx="5623560" cy="1508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9867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distancia administrativa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297680"/>
            <a:ext cx="52395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número que dice cuán creíble es cada fuente: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Estática =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1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(la que el admin escribió, siempre gana).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OSPF =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110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, RIP =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120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eso, si dejaste la estática,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OSPF no se usará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aunque R2 ya sepa la ruta.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504688"/>
            <a:ext cx="11338560" cy="8686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504688"/>
            <a:ext cx="73152" cy="86868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5778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diferencia entre C y L, que confunde siempre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888736"/>
            <a:ext cx="1095451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`C` es la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subred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completa que la interfaz sirve (192.168.2.0/28).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`L` es la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dirección propia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del router en esa interfaz (192.168.2.1/32), la que responde a los pings locales.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Rutas estáticas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Tres partes, y la tercera es la que se olvida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1338560" cy="105156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11018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87C1E"/>
                </a:solidFill>
                <a:latin typeface="Consolas"/>
              </a:rPr>
              <a:t>R1(config)# ip route 192.168.2.32 255.255.255.240 192.168.2.49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A8A8A"/>
                </a:solidFill>
                <a:latin typeface="Consolas"/>
              </a:rPr>
              <a:t>                          red de destino        máscara        siguiente salto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tres partes de una ruta estática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2697480"/>
          <a:ext cx="1133856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206240"/>
                <a:gridCol w="46634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pasa si te equivocas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Red de destino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 red que quieres alcanzar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Alcanzas la red equivocada o nada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Máscara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Cuántos bits son red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Con máscara incorrecta no hay coincidencia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Siguiente salto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La IP del </a:t>
                      </a:r>
                      <a:r>
                        <a:rPr sz="1250" b="1">
                          <a:solidFill>
                            <a:srgbClr val="444444"/>
                          </a:solidFill>
                          <a:latin typeface="Calibri"/>
                        </a:rPr>
                        <a:t>router vecino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44444"/>
                          </a:solidFill>
                          <a:latin typeface="Calibri"/>
                        </a:rPr>
                        <a:t>Sin ruta hacia él: no se puede entregar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11480" y="4206240"/>
            <a:ext cx="11338560" cy="1325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206240"/>
            <a:ext cx="73152" cy="132588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42793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requisito invisible: el siguiente salto debe ser alcanzable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590288"/>
            <a:ext cx="109545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router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no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puede enviar a una dirección que no ve en su tabla.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El siguiente salto tiene que estar en una red conectada (código C) del router.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Ejemplo: en R1, `.49` es alcanzable porque está en 192.168.2.48/30, que es C.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Por eso los enlaces del lab son /30 y no /28: así cada vecino es alcanzable.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577840"/>
            <a:ext cx="11338560" cy="86868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687568"/>
            <a:ext cx="11018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8A8A8A"/>
                </a:solidFill>
                <a:latin typeface="Consolas"/>
              </a:rPr>
              <a:t>R1# show ip route static        R1# show ip route 192.168.2.32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Ping: necesita ruta de ida y de vuelta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El error más costoso del laboratorio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Un paquete que llega y </a:t>
            </a:r>
            <a:r>
              <a:rPr sz="1400" b="1" i="0">
                <a:solidFill>
                  <a:srgbClr val="444444"/>
                </a:solidFill>
                <a:latin typeface="Calibri"/>
              </a:rPr>
              <a:t>no se devuelve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 se pierde igual. El ping solo tiene éxito si ambos caminos existen.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1338560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3108960"/>
                <a:gridCol w="3108960"/>
                <a:gridCol w="15544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Sentido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R1 necesita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R2 necesita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 falta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PC-A (LAN-A) → PC-B (LAN-B)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 → LAN-B via .49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 → LAN-A (ya conectada)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R1 no sabe salir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PC-B (LAN-B) → PC-A (LAN-A)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 → LAN-B (ya conectada)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 → LAN-A via .50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R2 no sabe volver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Si solo hay una de las dos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 queda en </a:t>
                      </a:r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0 replies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337560"/>
            <a:ext cx="1133856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33756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4107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trampa: la tabla parece correcta y aun así no hay respuesta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721608"/>
            <a:ext cx="109545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Cada router por separado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sí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tiene la ruta de salida hacia el otro.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Falta la de vuelta: el paquete llega al destino, pero el destino no sabe regresar. El ping se ve como «timeout» aunque la ruta de ida exista.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Por eso el `ping` de verificación se hace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desde el router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, con la IP de la interfaz de salida, no solo desde el PC.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074920"/>
            <a:ext cx="1133856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5074920"/>
            <a:ext cx="73152" cy="137160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1480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ping que sí prueba el camino completo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458968"/>
            <a:ext cx="10954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ping desde el PC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de origen hacia el PC destino: prueba ida y vuelta.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ping desde el router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con su IP de salida: prueba solo la ruta de ese router.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el ping desde el router funciona pero el del PC no, el problema está en el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PC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(IP o gateway mal).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ninguno de los dos funciona, el problema está en las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rutas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OSPF: los routers se cuentan entre 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De estáticas a dinámico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59" cy="3419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585216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Qué 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 el lab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Link-state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Cada router anuncia qué redes tiene conectadas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R1 anuncia sus 3 subredes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Área (area)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Grupo de routers que comparten LSDB. El área 0 es la </a:t>
                      </a:r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Los 3 routers en área 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Router ID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Identificador único (un IP). Se elige con `router-id`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R1=.1, R2=.17, R3=.33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LSDB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 base de datos con todas las redes conocidas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`show ip ospf database`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SPF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Algoritmo (Dijkstra) que calcula el camino más corto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Calcula la ruta de menor costo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Hellos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Paquetes cada 10 s para saber si el vecino sigue vivo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`show ip ospf neighbor`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Estado FULL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Los dos vecinos se reconhecieron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Debe verse FULL en los 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Passive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La interfaz anuncia la red pero </a:t>
                      </a:r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 manda hellos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Gi0/0 de cada router es pasiva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754880"/>
            <a:ext cx="557784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754880"/>
            <a:ext cx="73152" cy="164592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82803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pasiva la interfaz de la 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138928"/>
            <a:ext cx="51937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Gi0/0 de cada router va al switch de su LAN, donde están los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3 PCs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la interfaz mandara hellos, los PCs recibirían paquetes OSPF que no entienden y la red se inundaría.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`passive-interface` anuncia la red pero silencia el hello: es lo correcto.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754880"/>
            <a:ext cx="5623560" cy="16459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754880"/>
            <a:ext cx="73152" cy="164592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482803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Qué se gana con OSPF en este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138928"/>
            <a:ext cx="523951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Los 3 routers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aprendan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las rutas de los otros, no hay que escribirlas.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Si un enlace cae, se recalcula y el tráfico va por el otro.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`show ip ospf neighbor` debe dar 3 vecinos FULL.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la Sesión B se quita una estática y se ve la ruta OSPF (`O`).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RIPv2 y el resumen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El protocolo más simple, y su trampa clásica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444444"/>
                </a:solidFill>
                <a:latin typeface="Calibri"/>
              </a:rPr>
              <a:t>RIP es distance-vector: cada router cuenta saltos hasta la red y comparte el contador.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11338560" cy="1325880"/>
          </a:xfrm>
          <a:prstGeom prst="rect">
            <a:avLst/>
          </a:prstGeom>
          <a:solidFill>
            <a:srgbClr val="14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11018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E87C1E"/>
                </a:solidFill>
                <a:latin typeface="Consolas"/>
              </a:rPr>
              <a:t>R1(config)# router rip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8A8A8A"/>
                </a:solidFill>
                <a:latin typeface="Consolas"/>
              </a:rPr>
              <a:t>R1(config-router)# version 2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8A8A8A"/>
                </a:solidFill>
                <a:latin typeface="Consolas"/>
              </a:rPr>
              <a:t>R1(config-router)# network 192.168.2.0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E87C1E"/>
                </a:solidFill>
                <a:latin typeface="Consolas"/>
              </a:rPr>
              <a:t>R1(config-router)# no auto-summary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17520"/>
            <a:ext cx="557784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017520"/>
            <a:ext cx="73152" cy="1691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090672"/>
            <a:ext cx="5212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`no auto-summary` no es opcional aquí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01568"/>
            <a:ext cx="519379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 VLSM en la red, el resumen automático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manda 192.168.2.0/24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 en lugar de las subredes correctas.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El vecino recibe una ruta que no corresponde y descarta la información real.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 `no auto-summary` se difunden las subredes con su máscara real.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Es uno de los errores clásicos del protocolo RIP con VLSM.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017520"/>
            <a:ext cx="5623560" cy="1691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017520"/>
            <a:ext cx="73152" cy="1691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090672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Limitaciones de 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01568"/>
            <a:ext cx="523951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Máximo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15 saltos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: a partir de ahí la red es inalcanzable.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Métrica por saltos, no por ancho de banda real.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Converge lento (30 s por defecto) frente a OSPF.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En el lab se usa para </a:t>
            </a:r>
            <a:r>
              <a:rPr sz="1200" b="1" i="0">
                <a:solidFill>
                  <a:srgbClr val="444444"/>
                </a:solidFill>
                <a:latin typeface="Calibri"/>
              </a:rPr>
              <a:t>comparar</a:t>
            </a:r>
            <a:r>
              <a:rPr sz="1200" b="0" i="0">
                <a:solidFill>
                  <a:srgbClr val="444444"/>
                </a:solidFill>
                <a:latin typeface="Calibri"/>
              </a:rPr>
              <a:t>, no para producción.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7316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OSPF frente a RIP en este mismo laboratorio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5102352"/>
          <a:ext cx="1133856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4480560"/>
                <a:gridCol w="4480560"/>
              </a:tblGrid>
              <a:tr h="347472">
                <a:tc>
                  <a:txBody>
                    <a:bodyPr wrap="square"/>
                    <a:lstStyle/>
                    <a:p/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RIPv2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OSPF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distance-vector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link-state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saltos (≤ 15)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costo por ancho de banda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Convergencia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lenta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rápida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VLSM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con `no auto-summary`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nativo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Redundancia: qué pasa cuando algo falla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La malla se diseñó para 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44444"/>
                </a:solidFill>
                <a:latin typeface="Calibri"/>
              </a:rPr>
              <a:t>Con la malla completa, cada par de LANs tiene </a:t>
            </a:r>
            <a:r>
              <a:rPr sz="1400" b="1" i="0">
                <a:solidFill>
                  <a:srgbClr val="444444"/>
                </a:solidFill>
                <a:latin typeface="Calibri"/>
              </a:rPr>
              <a:t>dos caminos</a:t>
            </a:r>
            <a:r>
              <a:rPr sz="1400" b="0" i="0">
                <a:solidFill>
                  <a:srgbClr val="444444"/>
                </a:solidFill>
                <a:latin typeface="Calibri"/>
              </a:rPr>
              <a:t>. Esto es lo que se demuestra al final.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1338560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23360"/>
                <a:gridCol w="365760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Fallo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 rutas estáticas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 OSPF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Caen Gi0/1 de R1 (enlace R1–R2)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El tráfico muere hasta arreglarlo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 recalcula y va por R1–R3–R2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Cae un switch (SW2)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Esa LAN desaparece; las otras siguen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Igual: solo cae esa LAN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Se borra una estática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Se pierde esa ruta al instante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OSPF mantiene la ruta aprendida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Calibri"/>
                        </a:rPr>
                        <a:t>Vuelve el enlace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Manual: rehacer la ruta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Automático, recalcula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3840480"/>
            <a:ext cx="11338560" cy="14630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840480"/>
            <a:ext cx="73152" cy="146304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9136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demostración de la Sesión B, en orden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224528"/>
            <a:ext cx="109545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1. `show ip ospf neighbor` → los 3 vecinos en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FULL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2. Borrar la ruta estática a LAN-C en R1 → el ping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sigue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funcionando.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3. `show ip route` → la ruta a LAN-C ahora aparece con código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O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, no S.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4. Apagar un enlace → el tráfico sigue por el camino que queda.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394960"/>
            <a:ext cx="1133856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5394960"/>
            <a:ext cx="73152" cy="960120"/>
          </a:xfrm>
          <a:prstGeom prst="rect">
            <a:avLst/>
          </a:prstGeom>
          <a:solidFill>
            <a:srgbClr val="1E8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4681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mensaje que hay que llevarse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779008"/>
            <a:ext cx="109545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Las rutas estáticas no tienen «plan B»: si una falta, el tráfico se cae.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8849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protocolo dinámico es lo que hace que la topología de malla sirva de algo.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Verificar es parte de la teoría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Cada comando responde una pregunta concreta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59" cy="3566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97680"/>
                <a:gridCol w="3749039"/>
                <a:gridCol w="32918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debe verse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interface brief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¿La interfaz está up?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Gi0/0 up/up, Gi0/1 up/up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route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¿Por dónde sale el tráfico?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 para las 3 subredes + S (u O)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dhcp binding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¿A quién se le entregó una IP?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Leases .22 – .30 en LAN-B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dhcp server statistics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¿Cuántos DORA hubo?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DISCOVER, OFFER, REQUEST, ACK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arp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¿Quién está en mi LAN?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IP ↔ MAC de los vecinos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ospf neighbor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¿Se conocen los routers?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 vecinos en estado FULL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route ospf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¿Qué rutas aprendió OSPF?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Rutas con código 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show ip protocols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¿Qué protocolos corren?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OSPF en área 0, RIP si aplica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4937760"/>
            <a:ext cx="11338560" cy="1417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937760"/>
            <a:ext cx="73152" cy="141732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50109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pregunta que hace el diagnóstico correcto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321808"/>
            <a:ext cx="1095451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Antes de cambiar nada: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¿en qué capa está el problema?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Interfaz down → capa 1/2 (cable, `no shutdown`).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Sin IP o 169.254 → capa 2 (DHCP no respondió, o falta `ip address`).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Con IP pero sin ruta → capa 3 (falta `ip route`, o falta la ruta de vuelta).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Los límites de Packet Tracer 9.0.1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Lo que la herramienta no hace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3931920"/>
                <a:gridCol w="42062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 que quieres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hace PT 9.0.1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Solución en el lab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`lease 7 8 23`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No existe</a:t>
                      </a:r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 en el IOS de PT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 omite; el lease por defecto es 1 día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Dos `dns-server`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Solo acepta </a:t>
                      </a:r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uno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`dns-server 8.8.8.8`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`ip helper-address`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No implementado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Cada router sirve </a:t>
                      </a:r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su</a:t>
                      </a:r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 LAN (3 pools)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Ripv2 con VLSM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Requiere `no auto-summary` explícito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Se incluye en la config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Comando existencial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El IOS de PT acepta `?` para=listar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Úsalo si dudas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3730752"/>
            <a:ext cx="1133856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730752"/>
            <a:ext cx="73152" cy="1234440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8039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Por qué `ip helper-address` cambia el 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114800"/>
            <a:ext cx="109545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router con esa orden puede servir DHCP para redes a las que no está conectado.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Como PT no lo implementa, el laboratorio usa </a:t>
            </a:r>
            <a:r>
              <a:rPr sz="1250" b="1" i="0">
                <a:solidFill>
                  <a:srgbClr val="444444"/>
                </a:solidFill>
                <a:latin typeface="Calibri"/>
              </a:rPr>
              <a:t>3 servidores DHCP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 en vez de uno.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Es una limitación del simulador: en un router real, un solo servidor central bastaría.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047488"/>
            <a:ext cx="11338560" cy="12801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5047488"/>
            <a:ext cx="73152" cy="128016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120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 regla de oro con Packet Tracer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431536"/>
            <a:ext cx="10954512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Si un comando no existe, el propio simulador lo dice: el prompt `?` lista lo válido.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No copies comandos de un libro sin verificarlos: las versiones del IOS cambian.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78C8C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La configuración del lab está en `config/R1.txt`, `R2.txt` y `R3.txt`, ya validadas.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Checklist del laboratorio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Todo lo teórico, en orden de ejecución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280160"/>
          <a:ext cx="11338560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1005840"/>
                <a:gridCol w="5760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Qué debe pasar</a:t>
                      </a:r>
                    </a:p>
                  </a:txBody>
                  <a:tcPr marL="73152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Verificar VLSM antes de configurar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Las 6 subredes, alineadas y sin solapes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Cablear: 15 cables rectos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Cables rojos hasta hacer `no shutdown`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`no shutdown` en las 3 Gi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Las luces pasan a verde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`ip address` en cada interfaz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Aparecen las rutas C en `show ip route`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`ip dhcp pool` + excluded en cada router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 pools, uno por LAN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`ipconfig /renew` en los PCs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Leases .22 – .30 en LAN-B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Ping al gateway y a la otra LAN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Ida y vuelta en ambos sentidos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Rutas estáticas hacia la tercera LAN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Los 3 se alcanzan entre sí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OSPF área 0 + router-id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3 vecinos FULL</a:t>
                      </a:r>
                    </a:p>
                  </a:txBody>
                  <a:tcPr marL="73152" marR="45720" marT="18288" marB="18288" anchor="ctr"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Borrar una estática y reintentar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44444"/>
                          </a:solidFill>
                          <a:latin typeface="Calibri"/>
                        </a:rPr>
                        <a:t>El ping sigue, ahora por OSPF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5394960"/>
            <a:ext cx="11338560" cy="9601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5394960"/>
            <a:ext cx="73152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54681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El orden importa más de lo que parece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779008"/>
            <a:ext cx="109545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No se puede hacer DHCP sin la interfaz configurada (paso 4 antes de 5).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</a:rPr>
              <a:t>▸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Y no se puede enrutar sin VLSM calculado (paso 1 antes de 8).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7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Repaso: lo que hay que saber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C"/>
                </a:solidFill>
                <a:latin typeface="Calibri"/>
              </a:rPr>
              <a:t>Cinco ideas y las cinco preguntas que dejan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Redes de Computadoras · 8410 · Unidad III · Lab 13 · VLSM, DHCP y enrutamiento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1133856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73152" cy="2377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35331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Las 5 ideas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664207"/>
            <a:ext cx="1095451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1.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La máscara decide el reparto red/host; la IP sola no dice nada. /28 son 14 útiles, /30 son 2.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2.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VLSM da a cada subred la máscara que necesita: /28 para las LAN, /30 para los enlaces.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3.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El switch reenvía por MAC, el router por IP. ARP traduce IP→MAC solo dentro de la red.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4.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DHCP reparte por DORA, con gateway y DNS; se excluye el .1 del pool.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7C1E"/>
                </a:solidFill>
                <a:latin typeface="Calibri"/>
              </a:rPr>
              <a:t>5. </a:t>
            </a:r>
            <a:r>
              <a:rPr sz="1300" b="0" i="0">
                <a:solidFill>
                  <a:srgbClr val="444444"/>
                </a:solidFill>
                <a:latin typeface="Calibri"/>
              </a:rPr>
              <a:t>El router elige ruta: la más específica y la de menor distancia. OSPF aprende y recalcula.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3192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Las 5 preguntas para comprobar que se entendió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343400"/>
            <a:ext cx="11338560" cy="18288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343400"/>
            <a:ext cx="73152" cy="1828800"/>
          </a:xfrm>
          <a:prstGeom prst="rect">
            <a:avLst/>
          </a:prstGeom>
          <a:solidFill>
            <a:srgbClr val="17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416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12648" y="4727448"/>
            <a:ext cx="109545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1.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¿Por qué un /28 da 14 hosts y no 16? ¿Qué dos direcciones se pierden?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2.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¿Por qué los enlaces entre routers son /30 y no /28 en este laboratorio?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3.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ping al gateway funciona pero a otra LAN no. ¿Qué capa revisarías primero?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4.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Un PC muestra 169.254.x.x. ¿Qué significa y dónde se mira?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7C1E"/>
                </a:solidFill>
                <a:latin typeface="Calibri"/>
              </a:rPr>
              <a:t>5. </a:t>
            </a:r>
            <a:r>
              <a:rPr sz="1250" b="0" i="0">
                <a:solidFill>
                  <a:srgbClr val="444444"/>
                </a:solidFill>
                <a:latin typeface="Calibri"/>
              </a:rPr>
              <a:t>¿Qué cambia en la tabla de enrutamiento si borras una ruta estática que OSPF ya conoce?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